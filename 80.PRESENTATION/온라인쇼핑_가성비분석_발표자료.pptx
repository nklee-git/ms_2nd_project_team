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C2B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her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FF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24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D4FF3E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1371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1D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↗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6928" y="2103120"/>
            <a:ext cx="101434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쇼핑 가성비 분석과 태그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429000"/>
            <a:ext cx="96862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E8DB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마켓컬리 생필품 리뷰를 활용한 가격 만족도 분석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66928" y="4297680"/>
            <a:ext cx="11057839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4370832"/>
            <a:ext cx="365760" cy="36576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4370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4297680"/>
            <a:ext cx="1023487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KMeans5 · AI 모델개발 12기 5팀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4937760"/>
            <a:ext cx="11057839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5010912"/>
            <a:ext cx="365760" cy="36576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5010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88720" y="4937760"/>
            <a:ext cx="1023487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생수·세제·쌀·휴지의 리뷰 분석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66928" y="5577840"/>
            <a:ext cx="11057839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3232" y="5650992"/>
            <a:ext cx="365760" cy="36576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5577840"/>
            <a:ext cx="1023487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중심 태깅 모델과 서비스 방향 제안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B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1차 프로젝트_가성비 점수화_(발표자료).pptx p1; 1차 프로젝트_가성비 점수화_(프로젝트정리).md 기본 정보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생필품도 가성비 판단은 다르다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가격·용량·사용 경험을 함께 비교해야 하는 구매 상황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31720"/>
            <a:ext cx="4160520" cy="3749040"/>
          </a:xfrm>
          <a:prstGeom prst="roundRect">
            <a:avLst>
              <a:gd name="adj" fmla="val 3902"/>
            </a:avLst>
          </a:prstGeom>
          <a:solidFill>
            <a:srgbClr val="6C2BD9"/>
          </a:solidFill>
          <a:ln/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32688" y="26974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4FF3E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C1D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" y="3291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먼저 보는 지점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32688" y="3611880"/>
            <a:ext cx="3429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상품마다 다른 가격과 규격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047488" y="2331720"/>
            <a:ext cx="6577279" cy="37490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367528" y="2624328"/>
            <a:ext cx="59371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고려할 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67528" y="3557016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6" name="Text 13"/>
          <p:cNvSpPr/>
          <p:nvPr/>
        </p:nvSpPr>
        <p:spPr>
          <a:xfrm>
            <a:off x="5367528" y="3557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33288" y="2999232"/>
            <a:ext cx="557143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리뷰마다 다른 품질·배송 경험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67528" y="4489704"/>
            <a:ext cx="5937199" cy="0"/>
          </a:xfrm>
          <a:prstGeom prst="line">
            <a:avLst/>
          </a:prstGeom>
          <a:noFill/>
          <a:ln w="12700">
            <a:solidFill>
              <a:srgbClr val="E4DE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67528" y="5020056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5367528" y="5020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733288" y="4462272"/>
            <a:ext cx="557143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개인별로 다른 가격 대비 만족 기준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1차 프로젝트_가성비 점수화_(발표자료).pptx p3–7; …(프로젝트정리).md 분석 개요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신혼 맞벌이 부부의 생필품 선택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지출과 탐색 시간을 줄이면서 일정 수준의 품질을 원하는 사용자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구매로 누적되는 생필품 지출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39514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59554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15002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5" name="Text 12"/>
          <p:cNvSpPr/>
          <p:nvPr/>
        </p:nvSpPr>
        <p:spPr>
          <a:xfrm>
            <a:off x="4515002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15586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직장·육아로 부족한 비교 시간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32141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52181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07629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8307629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08213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가격과 품질을 함께 확인할 정보 필요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5120640"/>
            <a:ext cx="11057839" cy="566928"/>
          </a:xfrm>
          <a:prstGeom prst="roundRect">
            <a:avLst>
              <a:gd name="adj" fmla="val 19355"/>
            </a:avLst>
          </a:prstGeom>
          <a:solidFill>
            <a:srgbClr val="F2ECFB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5120640"/>
            <a:ext cx="10509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흐름  </a:t>
            </a:r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지출과 탐색 시간을 줄이면서 일정 수준의 품질을 원하는 사용자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…(발표자료).pptx p10; …(프로젝트정리).md 페르소나 · 가상 인물 설정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목표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리뷰에서 가성비 판단 요소 찾기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가격의 중요도 탐색과 가격 태깅 모델 구현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31720"/>
            <a:ext cx="4160520" cy="3749040"/>
          </a:xfrm>
          <a:prstGeom prst="roundRect">
            <a:avLst>
              <a:gd name="adj" fmla="val 3902"/>
            </a:avLst>
          </a:prstGeom>
          <a:solidFill>
            <a:srgbClr val="6C2BD9"/>
          </a:solidFill>
          <a:ln/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32688" y="26974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4FF3E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C1D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" y="3291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먼저 보는 지점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32688" y="3611880"/>
            <a:ext cx="3429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 1 · 합리적 가격과 실제 사용 후기가 선택에 중요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047488" y="2331720"/>
            <a:ext cx="6577279" cy="37490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367528" y="2624328"/>
            <a:ext cx="59371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고려할 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67528" y="3557016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6" name="Text 13"/>
          <p:cNvSpPr/>
          <p:nvPr/>
        </p:nvSpPr>
        <p:spPr>
          <a:xfrm>
            <a:off x="5367528" y="3557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33288" y="2999232"/>
            <a:ext cx="557143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 2 · 가성비 요소 중 가격이 큰 비중을 차지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67528" y="4489704"/>
            <a:ext cx="5937199" cy="0"/>
          </a:xfrm>
          <a:prstGeom prst="line">
            <a:avLst/>
          </a:prstGeom>
          <a:noFill/>
          <a:ln w="12700">
            <a:solidFill>
              <a:srgbClr val="E4DE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67528" y="5020056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5367528" y="5020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733288" y="4462272"/>
            <a:ext cx="557143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결과를 가격 만족도 태그로 연결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…(발표자료).pptx p11–12 · 탐색적 가설이며 인과관계 입증 아님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리뷰와 실제 분석 표본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163,832건 · 주요 키워드 분석 80,000건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3172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6C2BD9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" y="256032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163,832</a:t>
            </a:r>
            <a:endParaRPr lang="en-US" sz="4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1400" dirty="0">
                <a:solidFill>
                  <a:srgbClr val="D8C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41248" y="35935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E6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리뷰 (상품명·일자·리뷰)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33088" y="233172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07408" y="256032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80,000</a:t>
            </a:r>
            <a:endParaRPr lang="en-US" sz="4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14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4407408" y="35935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키워드 분석 적용 표본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" y="448056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마켓컬리 4개 카테고리 · 카테고리별 5개 브랜드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4846320"/>
            <a:ext cx="85953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2BD9">
                <a:alpha val="4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484632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생수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627632" y="4846320"/>
            <a:ext cx="85953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2BD9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27632" y="484632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세제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688336" y="4846320"/>
            <a:ext cx="62179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2BD9">
                <a:alpha val="4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688336" y="4846320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쌀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511296" y="4846320"/>
            <a:ext cx="85953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2BD9">
                <a:alpha val="4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11296" y="484632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휴지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…p8, p12 · 수집·적용 건수는 당시 발표자료 기준, 서로 다른 분석 단계의 수치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경로 전환과 가격 단위 정리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가능한 리뷰 확보와 규격 차이 확인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접근 문제와 크롤링 차단으로 주제·경로 재검토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39514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59554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15002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5" name="Text 12"/>
          <p:cNvSpPr/>
          <p:nvPr/>
        </p:nvSpPr>
        <p:spPr>
          <a:xfrm>
            <a:off x="4515002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15586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Octoparse와 웹 API를 활용한 리뷰 수집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32141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52181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07629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8307629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08213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생수 100ml·쌀 100g·휴지 1롤 등 기준 단위 설정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5120640"/>
            <a:ext cx="11057839" cy="566928"/>
          </a:xfrm>
          <a:prstGeom prst="roundRect">
            <a:avLst>
              <a:gd name="adj" fmla="val 19355"/>
            </a:avLst>
          </a:prstGeom>
          <a:solidFill>
            <a:srgbClr val="F2ECFB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5120640"/>
            <a:ext cx="10509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흐름  </a:t>
            </a:r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가능한 리뷰 확보와 규격 차이 확인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…(발표자료).pptx p33–34 · 데이터 설명·개인 역할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절차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수집부터 가격 태깅까지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탐색과 감성 분류를 병행한 분석 과정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수집과 텍스트 정제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39514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59554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15002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5" name="Text 12"/>
          <p:cNvSpPr/>
          <p:nvPr/>
        </p:nvSpPr>
        <p:spPr>
          <a:xfrm>
            <a:off x="4515002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15586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TF-IDF·BERTopic·감성 분류로 가설 검토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32141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52181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07629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8307629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08213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 임베딩과 수동 라벨링으로 가격 태그 구현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5120640"/>
            <a:ext cx="11057839" cy="566928"/>
          </a:xfrm>
          <a:prstGeom prst="roundRect">
            <a:avLst>
              <a:gd name="adj" fmla="val 19355"/>
            </a:avLst>
          </a:prstGeom>
          <a:solidFill>
            <a:srgbClr val="F2ECFB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5120640"/>
            <a:ext cx="10509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흐름  </a:t>
            </a:r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탐색과 감성 분류를 병행한 분석 과정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…(발표자료).pptx p8–9, p12–29 · 분석 과정 요약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전처리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리뷰 전처리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목적에 맞춘 형태소 분석과 불용어 처리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2387270" cy="566928"/>
          </a:xfrm>
          <a:prstGeom prst="roundRect">
            <a:avLst>
              <a:gd name="adj" fmla="val 22581"/>
            </a:avLst>
          </a:prstGeom>
          <a:solidFill>
            <a:srgbClr val="F2ECFB"/>
          </a:solidFill>
          <a:ln w="12700">
            <a:solidFill>
              <a:srgbClr val="6C2BD9">
                <a:alpha val="3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2423160"/>
            <a:ext cx="23872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954198" y="242316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457118" y="2423160"/>
            <a:ext cx="2387270" cy="566928"/>
          </a:xfrm>
          <a:prstGeom prst="roundRect">
            <a:avLst>
              <a:gd name="adj" fmla="val 22581"/>
            </a:avLst>
          </a:prstGeom>
          <a:solidFill>
            <a:srgbClr val="F2ECFB"/>
          </a:solidFill>
          <a:ln w="12700">
            <a:solidFill>
              <a:srgbClr val="6C2BD9">
                <a:alpha val="3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57118" y="2423160"/>
            <a:ext cx="23872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형태소 분석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844388" y="242316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347308" y="2423160"/>
            <a:ext cx="2387270" cy="566928"/>
          </a:xfrm>
          <a:prstGeom prst="roundRect">
            <a:avLst>
              <a:gd name="adj" fmla="val 22581"/>
            </a:avLst>
          </a:prstGeom>
          <a:solidFill>
            <a:srgbClr val="F2ECFB"/>
          </a:solidFill>
          <a:ln w="12700">
            <a:solidFill>
              <a:srgbClr val="6C2BD9">
                <a:alpha val="3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47308" y="2423160"/>
            <a:ext cx="23872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불용어 제거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734577" y="242316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237497" y="2423160"/>
            <a:ext cx="2387270" cy="566928"/>
          </a:xfrm>
          <a:prstGeom prst="roundRect">
            <a:avLst>
              <a:gd name="adj" fmla="val 22581"/>
            </a:avLst>
          </a:prstGeom>
          <a:solidFill>
            <a:srgbClr val="6C2BD9"/>
          </a:solidFill>
          <a:ln w="12700">
            <a:solidFill>
              <a:srgbClr val="6C2BD9">
                <a:alpha val="3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37497" y="2423160"/>
            <a:ext cx="23872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입력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66928" y="31729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Pandas · Okt · Kiwi · MeCab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3675888"/>
            <a:ext cx="11057839" cy="2404872"/>
          </a:xfrm>
          <a:prstGeom prst="roundRect">
            <a:avLst>
              <a:gd name="adj" fmla="val 6084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50392" y="3902964"/>
            <a:ext cx="347472" cy="347472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2" name="Text 19"/>
          <p:cNvSpPr/>
          <p:nvPr/>
        </p:nvSpPr>
        <p:spPr>
          <a:xfrm>
            <a:off x="850392" y="39029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44168" y="3675888"/>
            <a:ext cx="9960559" cy="801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Pandas로 리뷰 데이터 로드·정리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86968" y="4477512"/>
            <a:ext cx="10417759" cy="0"/>
          </a:xfrm>
          <a:prstGeom prst="line">
            <a:avLst/>
          </a:prstGeom>
          <a:noFill/>
          <a:ln w="12700">
            <a:solidFill>
              <a:srgbClr val="E4DE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50392" y="4704588"/>
            <a:ext cx="347472" cy="347472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6" name="Text 23"/>
          <p:cNvSpPr/>
          <p:nvPr/>
        </p:nvSpPr>
        <p:spPr>
          <a:xfrm>
            <a:off x="850392" y="47045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344168" y="4477512"/>
            <a:ext cx="9960559" cy="801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Okt·Kiwi·MeCab을 분석 경로에 맞게 활용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86968" y="5279136"/>
            <a:ext cx="10417759" cy="0"/>
          </a:xfrm>
          <a:prstGeom prst="line">
            <a:avLst/>
          </a:prstGeom>
          <a:noFill/>
          <a:ln w="12700">
            <a:solidFill>
              <a:srgbClr val="E4DEF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50392" y="5506212"/>
            <a:ext cx="347472" cy="347472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" y="55062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344168" y="5279136"/>
            <a:ext cx="9960559" cy="801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불용어 처리 후 키워드와 문장 의미 분석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…p13–16 · 원본 이미지(kiwi_stopword.png) 대신 처리 흐름으로 재구성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분석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TF-IDF로 주요 표현 확인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단어의 빈도와 문서 간 희소성을 함께 반영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77440"/>
            <a:ext cx="11057839" cy="1554480"/>
          </a:xfrm>
          <a:prstGeom prst="roundRect">
            <a:avLst>
              <a:gd name="adj" fmla="val 9412"/>
            </a:avLst>
          </a:prstGeom>
          <a:solidFill>
            <a:srgbClr val="F2ECFB"/>
          </a:solidFill>
          <a:ln/>
        </p:spPr>
      </p:sp>
      <p:sp>
        <p:nvSpPr>
          <p:cNvPr id="9" name="Shape 6"/>
          <p:cNvSpPr/>
          <p:nvPr/>
        </p:nvSpPr>
        <p:spPr>
          <a:xfrm>
            <a:off x="1024128" y="2862072"/>
            <a:ext cx="1261872" cy="585216"/>
          </a:xfrm>
          <a:prstGeom prst="roundRect">
            <a:avLst>
              <a:gd name="adj" fmla="val 50000"/>
            </a:avLst>
          </a:prstGeom>
          <a:solidFill>
            <a:srgbClr val="D4FF3E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2862072"/>
            <a:ext cx="12618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1D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560320" y="2862072"/>
            <a:ext cx="109728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2BD9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0" y="2862072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31920" y="2862072"/>
            <a:ext cx="82296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2BD9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0" y="2862072"/>
            <a:ext cx="822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맛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24128" y="3474720"/>
            <a:ext cx="101434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관련 표현을 핵심으로 강조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928" y="4251960"/>
            <a:ext cx="11057839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0392" y="4383024"/>
            <a:ext cx="347472" cy="347472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8" name="Text 15"/>
          <p:cNvSpPr/>
          <p:nvPr/>
        </p:nvSpPr>
        <p:spPr>
          <a:xfrm>
            <a:off x="850392" y="4383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44168" y="4251960"/>
            <a:ext cx="9960559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Kiwi로 분리한 토큰에 TF-IDF 적용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86968" y="4861560"/>
            <a:ext cx="10417759" cy="0"/>
          </a:xfrm>
          <a:prstGeom prst="line">
            <a:avLst/>
          </a:prstGeom>
          <a:noFill/>
          <a:ln w="12700">
            <a:solidFill>
              <a:srgbClr val="E4DEF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0392" y="4992624"/>
            <a:ext cx="347472" cy="347472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2" name="Text 19"/>
          <p:cNvSpPr/>
          <p:nvPr/>
        </p:nvSpPr>
        <p:spPr>
          <a:xfrm>
            <a:off x="850392" y="4992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44168" y="4861560"/>
            <a:ext cx="9960559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20개 키워드를 표와 그래프로 확인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86968" y="5471160"/>
            <a:ext cx="10417759" cy="0"/>
          </a:xfrm>
          <a:prstGeom prst="line">
            <a:avLst/>
          </a:prstGeom>
          <a:noFill/>
          <a:ln w="12700">
            <a:solidFill>
              <a:srgbClr val="E4DE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50392" y="5602224"/>
            <a:ext cx="347472" cy="347472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6" name="Text 23"/>
          <p:cNvSpPr/>
          <p:nvPr/>
        </p:nvSpPr>
        <p:spPr>
          <a:xfrm>
            <a:off x="850392" y="5602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344168" y="5471160"/>
            <a:ext cx="9960559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가격·품질·맛 관련 표현을 비교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…p14–15, p19 · TF_IDF_top20 원본 이미지 대신 핵심 표현으로 재구성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토픽 분석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BERTopic으로 가격 관련 맥락 탐색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80,000건 중 가격·가성비 관련 주제 38,366건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31720"/>
            <a:ext cx="3566160" cy="3749040"/>
          </a:xfrm>
          <a:prstGeom prst="roundRect">
            <a:avLst>
              <a:gd name="adj" fmla="val 4103"/>
            </a:avLst>
          </a:prstGeom>
          <a:solidFill>
            <a:srgbClr val="6C2BD9"/>
          </a:solidFill>
          <a:ln/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86968" y="28346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38,366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86968" y="3703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FF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6968" y="52120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DB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가격·가성비 관련 주제 (표본 80,000건 중)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53128" y="2331720"/>
            <a:ext cx="7171639" cy="37490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0016" y="2929128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2929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30368" y="2560320"/>
            <a:ext cx="6074359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MeCab 정제 후 BERTopic 적용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700016" y="3995928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7" name="Text 14"/>
          <p:cNvSpPr/>
          <p:nvPr/>
        </p:nvSpPr>
        <p:spPr>
          <a:xfrm>
            <a:off x="4700016" y="3995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30368" y="3627120"/>
            <a:ext cx="6074359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가격·가성비 관련 주제 38,366건으로 보고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700016" y="5062728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4700016" y="5062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230368" y="4693920"/>
            <a:ext cx="6074359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워드클라우드와 토픽별 키워드로 맥락 확인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…p16–18 · BERTopic 원본 이미지 대신 핵심 수치로 재구성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해석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가격과 함께 나타난 사용 경험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빈도와 리뷰의 맥락을 함께 해석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31720"/>
            <a:ext cx="4160520" cy="3749040"/>
          </a:xfrm>
          <a:prstGeom prst="roundRect">
            <a:avLst>
              <a:gd name="adj" fmla="val 3902"/>
            </a:avLst>
          </a:prstGeom>
          <a:solidFill>
            <a:srgbClr val="6C2BD9"/>
          </a:solidFill>
          <a:ln/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32688" y="26974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4FF3E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C1D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" y="3291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먼저 보는 지점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32688" y="3611880"/>
            <a:ext cx="3429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TF-IDF · 맛·가격·품질의 주요 표현 확인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047488" y="2331720"/>
            <a:ext cx="6577279" cy="37490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367528" y="2624328"/>
            <a:ext cx="59371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고려할 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67528" y="3557016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6" name="Text 13"/>
          <p:cNvSpPr/>
          <p:nvPr/>
        </p:nvSpPr>
        <p:spPr>
          <a:xfrm>
            <a:off x="5367528" y="3557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33288" y="2999232"/>
            <a:ext cx="557143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BERTopic · 가격에 대한 긍정·부정 맥락 존재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67528" y="4489704"/>
            <a:ext cx="5937199" cy="0"/>
          </a:xfrm>
          <a:prstGeom prst="line">
            <a:avLst/>
          </a:prstGeom>
          <a:noFill/>
          <a:ln w="12700">
            <a:solidFill>
              <a:srgbClr val="E4DE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67528" y="5020056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5367528" y="5020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733288" y="4462272"/>
            <a:ext cx="557143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가성비 판단에는 품질·포장·배송 경험도 포함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…p19, p25 · 주요 인사이트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감성 모델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별점 예측에서 이진 감성 분류로 전환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KcELECTRA를 활용한 긍정·부정 분석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31720"/>
            <a:ext cx="11057839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" y="26060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별점 예측 (5점 척도)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0128" y="2894076"/>
            <a:ext cx="7994599" cy="384048"/>
          </a:xfrm>
          <a:prstGeom prst="roundRect">
            <a:avLst>
              <a:gd name="adj" fmla="val 19048"/>
            </a:avLst>
          </a:prstGeom>
          <a:solidFill>
            <a:srgbClr val="F2ECFB"/>
          </a:solidFill>
          <a:ln/>
        </p:spPr>
      </p:sp>
      <p:sp>
        <p:nvSpPr>
          <p:cNvPr id="11" name="Shape 8"/>
          <p:cNvSpPr/>
          <p:nvPr/>
        </p:nvSpPr>
        <p:spPr>
          <a:xfrm>
            <a:off x="3310128" y="2894076"/>
            <a:ext cx="479676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/>
        </p:spPr>
      </p:sp>
      <p:sp>
        <p:nvSpPr>
          <p:cNvPr id="12" name="Text 9"/>
          <p:cNvSpPr/>
          <p:nvPr/>
        </p:nvSpPr>
        <p:spPr>
          <a:xfrm>
            <a:off x="8216616" y="289407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60%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" y="37490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이진 분류 테스트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10128" y="4037076"/>
            <a:ext cx="7994599" cy="384048"/>
          </a:xfrm>
          <a:prstGeom prst="roundRect">
            <a:avLst>
              <a:gd name="adj" fmla="val 19048"/>
            </a:avLst>
          </a:prstGeom>
          <a:solidFill>
            <a:srgbClr val="F2ECFB"/>
          </a:solidFill>
          <a:ln/>
        </p:spPr>
      </p:sp>
      <p:sp>
        <p:nvSpPr>
          <p:cNvPr id="15" name="Shape 12"/>
          <p:cNvSpPr/>
          <p:nvPr/>
        </p:nvSpPr>
        <p:spPr>
          <a:xfrm>
            <a:off x="3310128" y="4037076"/>
            <a:ext cx="7514923" cy="384048"/>
          </a:xfrm>
          <a:prstGeom prst="roundRect">
            <a:avLst>
              <a:gd name="adj" fmla="val 19048"/>
            </a:avLst>
          </a:prstGeom>
          <a:solidFill>
            <a:srgbClr val="6C2BD9"/>
          </a:solidFill>
          <a:ln/>
        </p:spPr>
      </p:sp>
      <p:sp>
        <p:nvSpPr>
          <p:cNvPr id="16" name="Text 13"/>
          <p:cNvSpPr/>
          <p:nvPr/>
        </p:nvSpPr>
        <p:spPr>
          <a:xfrm>
            <a:off x="10934779" y="403707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94%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1248" y="4727448"/>
            <a:ext cx="105091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과제의 결과이며 60%→94% 개선으로 연결하지 않음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5394960"/>
            <a:ext cx="11057839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59536" y="5401818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" y="540181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344168" y="5394960"/>
            <a:ext cx="9960559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리뷰 1·2점 부정, 4·5점 긍정으로 학습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59536" y="5744718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3" name="Text 20"/>
          <p:cNvSpPr/>
          <p:nvPr/>
        </p:nvSpPr>
        <p:spPr>
          <a:xfrm>
            <a:off x="859536" y="574471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344168" y="5737860"/>
            <a:ext cx="9960559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이진 분류 테스트 정확도 약 94%로 보고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…p20–23 · 약 94%는 당시 발표 수치, 가성비 판단 성능과는 별도 검증 필요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감성 분석 결과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생수·세제의 가격과 긍정 리뷰 비교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관찰된 경향과 해석 범위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31720"/>
            <a:ext cx="3566160" cy="3749040"/>
          </a:xfrm>
          <a:prstGeom prst="roundRect">
            <a:avLst>
              <a:gd name="adj" fmla="val 4103"/>
            </a:avLst>
          </a:prstGeom>
          <a:solidFill>
            <a:srgbClr val="6C2BD9"/>
          </a:solidFill>
          <a:ln/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86968" y="28346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20만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86968" y="3703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FF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6968" y="52120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DB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쇼핑 리뷰 학습 데이터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53128" y="2331720"/>
            <a:ext cx="7171639" cy="37490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0016" y="2929128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2929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30368" y="2560320"/>
            <a:ext cx="6074359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마켓컬리 생수·세제 리뷰에 긍정·부정 분류 적용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700016" y="3995928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7" name="Text 14"/>
          <p:cNvSpPr/>
          <p:nvPr/>
        </p:nvSpPr>
        <p:spPr>
          <a:xfrm>
            <a:off x="4700016" y="3995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30368" y="3627120"/>
            <a:ext cx="6074359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비교에서 단위 가격이 낮을수록 긍정 비율이 높은 경향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700016" y="5062728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4700016" y="5062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230368" y="4693920"/>
            <a:ext cx="6074359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브랜드·품질을 통제한 실험은 아니므로 인과관계로 단정하지 않음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…p23–24 · pos_neg_ratio 원본 이미지 대신 핵심 수치로 재구성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만족도 태그의 근거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가격에 대한 긍정 경험을 별도로 설명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가격은 가성비 리뷰에서 반복적으로 등장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39514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59554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15002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5" name="Text 12"/>
          <p:cNvSpPr/>
          <p:nvPr/>
        </p:nvSpPr>
        <p:spPr>
          <a:xfrm>
            <a:off x="4515002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15586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가격과 가격 대비 만족도는 의미가 다름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32141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52181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07629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8307629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08213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리뷰의 가격 평가를 긍정·중립·부정으로 구분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5120640"/>
            <a:ext cx="11057839" cy="566928"/>
          </a:xfrm>
          <a:prstGeom prst="roundRect">
            <a:avLst>
              <a:gd name="adj" fmla="val 19355"/>
            </a:avLst>
          </a:prstGeom>
          <a:solidFill>
            <a:srgbClr val="F2ECFB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5120640"/>
            <a:ext cx="10509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흐름  </a:t>
            </a:r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가격에 대한 긍정 경험을 별도로 설명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…p25–26 · 주요 인사이트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모델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 임베딩으로 가격 평가 분류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긍정·부정 기준 문장과의 의미 유사도 활용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distiluse-base-multilingual-cased-v2 사용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39514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59554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15002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5" name="Text 12"/>
          <p:cNvSpPr/>
          <p:nvPr/>
        </p:nvSpPr>
        <p:spPr>
          <a:xfrm>
            <a:off x="4515002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15586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만족·불만 기준 문장의 중심 벡터 계산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32141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52181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07629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8307629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08213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리뷰와 기준 문장을 비교해 가격 평가 방향 구분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5120640"/>
            <a:ext cx="11057839" cy="566928"/>
          </a:xfrm>
          <a:prstGeom prst="roundRect">
            <a:avLst>
              <a:gd name="adj" fmla="val 19355"/>
            </a:avLst>
          </a:prstGeom>
          <a:solidFill>
            <a:srgbClr val="F2ECFB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5120640"/>
            <a:ext cx="10509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흐름  </a:t>
            </a:r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긍정·부정 기준 문장과의 의미 유사도 활용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본인코드_텍스트임베딩.ipynb; …(발표자료).pptx p26–27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보완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라벨과 분류기로 보완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 임베딩 위에 LogisticRegression 적용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라벨 neg·neu·pos를 3개 클래스로 사용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39514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59554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15002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5" name="Text 12"/>
          <p:cNvSpPr/>
          <p:nvPr/>
        </p:nvSpPr>
        <p:spPr>
          <a:xfrm>
            <a:off x="4515002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15586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층화 방식으로 학습 80% · 테스트 20% 분할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32141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52181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07629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8307629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08213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정규화 문장 임베딩과 LogisticRegression으로 평가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5120640"/>
            <a:ext cx="11057839" cy="566928"/>
          </a:xfrm>
          <a:prstGeom prst="roundRect">
            <a:avLst>
              <a:gd name="adj" fmla="val 19355"/>
            </a:avLst>
          </a:prstGeom>
          <a:solidFill>
            <a:srgbClr val="F2ECFB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5120640"/>
            <a:ext cx="10509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흐름  </a:t>
            </a:r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 임베딩 위에 LogisticRegression 적용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본인코드_텍스트임베딩(수동_라벨링으로_보완).ipynb; …p28–29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구성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단계별 사용 기술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전처리 · 감성 분류 · 의미 분석 · 시각화</a:t>
            </a:r>
            <a:endParaRPr lang="en-US" sz="13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23160"/>
          <a:ext cx="11057839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85839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 기술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목적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B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2BD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19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Python · Pandas · Octoparse · 웹 API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19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리뷰 수집과 정리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2BD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분석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19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Kiwi · MeCab · TF-IDF · BERTopic · KcELECTRA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19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표현·맥락·감성 분류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2BD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태깅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19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Sentence Transformer · LogisticRegression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19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 평가 방향 분류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…(프로젝트정리).md 사용 기술; 본인코드 텍스트임베딩 노트북 2종 · 도구별 성능 우위 비교 아님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제안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태그를 활용한 상품 선택 지원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프로토타입을 소비자 화면으로 연결하는 방향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가격·용량·규격과 리뷰 수를 함께 표시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39514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59554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15002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5" name="Text 12"/>
          <p:cNvSpPr/>
          <p:nvPr/>
        </p:nvSpPr>
        <p:spPr>
          <a:xfrm>
            <a:off x="4515002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15586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평가와 품질 평가를 구분해 제공하는 방향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32141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52181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07629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8307629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08213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점수의 근거를 확인하는 서비스 제안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5120640"/>
            <a:ext cx="11057839" cy="566928"/>
          </a:xfrm>
          <a:prstGeom prst="roundRect">
            <a:avLst>
              <a:gd name="adj" fmla="val 19355"/>
            </a:avLst>
          </a:prstGeom>
          <a:solidFill>
            <a:srgbClr val="F2ECFB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5120640"/>
            <a:ext cx="10509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흐름  </a:t>
            </a:r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프로토타입을 소비자 화면으로 연결하는 방향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…(발표자료).pptx p30 · 서비스 제안, 실제 구현 성과 아님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과정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전환과 분석 수행 과정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발표자료의 9월 30일–10월 19일 일정 (연도 미표기)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287981" y="2788920"/>
            <a:ext cx="7615733" cy="0"/>
          </a:xfrm>
          <a:prstGeom prst="line">
            <a:avLst/>
          </a:prstGeom>
          <a:noFill/>
          <a:ln w="19050">
            <a:solidFill>
              <a:srgbClr val="6C2BD9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187397" y="2688336"/>
            <a:ext cx="201168" cy="201168"/>
          </a:xfrm>
          <a:prstGeom prst="ellipse">
            <a:avLst/>
          </a:prstGeom>
          <a:solidFill>
            <a:srgbClr val="6C2B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" y="3108960"/>
            <a:ext cx="3442106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5528" y="3337560"/>
            <a:ext cx="29849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9/30–10/2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95528" y="3840480"/>
            <a:ext cx="2984906" cy="0"/>
          </a:xfrm>
          <a:prstGeom prst="line">
            <a:avLst/>
          </a:prstGeom>
          <a:noFill/>
          <a:ln w="12700">
            <a:solidFill>
              <a:srgbClr val="E4DE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3977640"/>
            <a:ext cx="298490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최초 기획과 공공 데이터 수집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95264" y="2688336"/>
            <a:ext cx="201168" cy="201168"/>
          </a:xfrm>
          <a:prstGeom prst="ellipse">
            <a:avLst/>
          </a:prstGeom>
          <a:solidFill>
            <a:srgbClr val="6C2B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74794" y="3108960"/>
            <a:ext cx="3442106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03394" y="3337560"/>
            <a:ext cx="29849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10/2–10/13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03394" y="3840480"/>
            <a:ext cx="2984906" cy="0"/>
          </a:xfrm>
          <a:prstGeom prst="line">
            <a:avLst/>
          </a:prstGeom>
          <a:noFill/>
          <a:ln w="12700">
            <a:solidFill>
              <a:srgbClr val="E4DE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03394" y="3977640"/>
            <a:ext cx="298490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재검토와 온라인 리뷰 수집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803130" y="2688336"/>
            <a:ext cx="201168" cy="201168"/>
          </a:xfrm>
          <a:prstGeom prst="ellipse">
            <a:avLst/>
          </a:prstGeom>
          <a:solidFill>
            <a:srgbClr val="6C2B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82661" y="3108960"/>
            <a:ext cx="3442106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411261" y="3337560"/>
            <a:ext cx="29849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10/14–10/19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411261" y="3840480"/>
            <a:ext cx="2984906" cy="0"/>
          </a:xfrm>
          <a:prstGeom prst="line">
            <a:avLst/>
          </a:prstGeom>
          <a:noFill/>
          <a:ln w="12700">
            <a:solidFill>
              <a:srgbClr val="E4DE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1261" y="3977640"/>
            <a:ext cx="298490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 · 심화 분석 · 모델 구현 · 발표 준비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…(발표자료).pptx p33 · 개인 역할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역할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KMeans5의 협업과 이상엽의 기여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· 전처리 · 모델링을 나누어 수행한 4인 팀</a:t>
            </a:r>
            <a:endParaRPr 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23160"/>
          <a:ext cx="11057839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46159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B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2BD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이상엽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19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팀장 · 주제·방향 결정 · 수집 · 가격 모델 구현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2BD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오예지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19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전처리 · 키워드 분석 · 시각화 · 발표자료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2BD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윤원호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19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전처리 · 감성 모델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2BD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서강민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19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수집 · 발표자료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…(발표자료).pptx p32; …(프로젝트정리).md · 발표 담당 표기가 두 문서에서 다름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성과와 한계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분석과 가격 태깅의 성과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결과가 설명하는 범위를 명확히 구분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31720"/>
            <a:ext cx="4160520" cy="3749040"/>
          </a:xfrm>
          <a:prstGeom prst="roundRect">
            <a:avLst>
              <a:gd name="adj" fmla="val 3902"/>
            </a:avLst>
          </a:prstGeom>
          <a:solidFill>
            <a:srgbClr val="6C2BD9"/>
          </a:solidFill>
          <a:ln/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32688" y="26974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4FF3E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C1D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" y="3291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먼저 보는 지점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32688" y="3611880"/>
            <a:ext cx="3429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수집·정제·키워드·감성 분석을 연결한 분석 경험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047488" y="2331720"/>
            <a:ext cx="6577279" cy="37490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367528" y="2624328"/>
            <a:ext cx="59371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고려할 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67528" y="3557016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6" name="Text 13"/>
          <p:cNvSpPr/>
          <p:nvPr/>
        </p:nvSpPr>
        <p:spPr>
          <a:xfrm>
            <a:off x="5367528" y="3557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33288" y="2999232"/>
            <a:ext cx="557143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중심 문장 임베딩과 수동 라벨 보완 모델 구현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67528" y="4489704"/>
            <a:ext cx="5937199" cy="0"/>
          </a:xfrm>
          <a:prstGeom prst="line">
            <a:avLst/>
          </a:prstGeom>
          <a:noFill/>
          <a:ln w="12700">
            <a:solidFill>
              <a:srgbClr val="E4DE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67528" y="5020056"/>
            <a:ext cx="329184" cy="32918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5367528" y="5020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733288" y="4462272"/>
            <a:ext cx="557143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가성비·실제 구매 효과·서비스 운영 성능은 미검증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…(프로젝트정리).md 분석 과정·개선 아이디어; …p20–30, p34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cont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ECFB"/>
          </a:solidFill>
          <a:ln w="9525">
            <a:solidFill>
              <a:srgbClr val="6C2BD9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 </a:t>
            </a:r>
            <a:pPr algn="ctr" indent="0" marL="0">
              <a:buNone/>
            </a:pPr>
            <a:r>
              <a:rPr lang="en-US" sz="10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방향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spc="-30" kern="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품질·신뢰도와 개인 기준으로 확장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5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1차에서 제안한 후속 과제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외 품질·배송 등 여러 경험 요소 통합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39514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59554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15002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5" name="Text 12"/>
          <p:cNvSpPr/>
          <p:nvPr/>
        </p:nvSpPr>
        <p:spPr>
          <a:xfrm>
            <a:off x="4515002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15586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개인별 가성비 기준을 반영한 점수 설계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32141" y="2606040"/>
            <a:ext cx="320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52181" y="2606040"/>
            <a:ext cx="347258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DEF3"/>
            </a:solidFill>
            <a:prstDash val="solid"/>
          </a:ln>
          <a:effectLst>
            <a:outerShdw sx="100000" sy="100000" kx="0" ky="0" algn="bl" rotWithShape="0" blurRad="127000" dist="38100" dir="5400000">
              <a:srgbClr val="4C1D95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07629" y="2761488"/>
            <a:ext cx="457200" cy="4572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8307629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08213" y="3474720"/>
            <a:ext cx="296052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이미지·스크린샷 입력과 결과 설명 기능 검토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5120640"/>
            <a:ext cx="11057839" cy="566928"/>
          </a:xfrm>
          <a:prstGeom prst="roundRect">
            <a:avLst>
              <a:gd name="adj" fmla="val 19355"/>
            </a:avLst>
          </a:prstGeom>
          <a:solidFill>
            <a:srgbClr val="F2ECFB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5120640"/>
            <a:ext cx="10509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2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흐름  </a:t>
            </a:r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1차에서 제안한 후속 과제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E4DE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…(프로젝트정리).md 개선 아이디어 / 제안 기능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6C2B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her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FF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 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24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D4FF3E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1371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1D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↗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6928" y="2103120"/>
            <a:ext cx="101434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만족도를 설명하는 첫 분석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429000"/>
            <a:ext cx="96862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E8DB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근거를 활용한 가성비 판단의 출발점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66928" y="4297680"/>
            <a:ext cx="11057839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4370832"/>
            <a:ext cx="365760" cy="36576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4370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4297680"/>
            <a:ext cx="1023487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소비자가 가격과 사용 경험을 함께 언급함을 탐색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4937760"/>
            <a:ext cx="11057839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5010912"/>
            <a:ext cx="365760" cy="36576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5010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88720" y="4937760"/>
            <a:ext cx="1023487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만족도를 문장 의미로 구분하는 모델 구현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66928" y="5577840"/>
            <a:ext cx="11057839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3232" y="5650992"/>
            <a:ext cx="365760" cy="36576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5577840"/>
            <a:ext cx="1023487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과제 · 다요소 점수와 일관된 검증 기준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B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…(프로젝트정리).md 주요 인사이트·개선 아이디어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6C2B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klee\AppData\Local\Temp\claude\C--Users-nklee-OneDrive---------\bb22df09-4bac-4112-91a3-20da37cc1c7f\scratchpad\assets\her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FF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 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질의응답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436047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24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D4FF3E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1371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1D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↗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6928" y="2103120"/>
            <a:ext cx="101434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질의응답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429000"/>
            <a:ext cx="96862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E8DB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범위 · 모델 평가 · 서비스 구현 수준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66928" y="4297680"/>
            <a:ext cx="11057839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4370832"/>
            <a:ext cx="365760" cy="36576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4370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4297680"/>
            <a:ext cx="1023487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163,832건과 80,000건의 차이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4937760"/>
            <a:ext cx="11057839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5010912"/>
            <a:ext cx="365760" cy="36576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5010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88720" y="4937760"/>
            <a:ext cx="1023487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감성 분류 94%와 가성비 판단 성능의 차이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66928" y="5577840"/>
            <a:ext cx="11057839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3232" y="5650992"/>
            <a:ext cx="365760" cy="36576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5577840"/>
            <a:ext cx="1023487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중심 프로토타입의 한계와 다음 단계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6291072"/>
            <a:ext cx="11057839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364224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B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…(발표자료).pptx p31, p35; …(프로젝트정리).md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2026-09-09T13:18:28Z</dcterms:created>
  <dcterms:modified xsi:type="dcterms:W3CDTF">2026-09-09T13:18:28Z</dcterms:modified>
</cp:coreProperties>
</file>